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embeddedFontLst>
    <p:embeddedFont>
      <p:font typeface="Montserrat"/>
      <p:regular r:id="rId11"/>
      <p:bold r:id="rId12"/>
      <p:italic r:id="rId13"/>
      <p:boldItalic r:id="rId14"/>
    </p:embeddedFont>
    <p:embeddedFont>
      <p:font typeface="DM Sans"/>
    </p:embeddedFont>
    <p:embeddedFont>
      <p:font typeface="Microsoft YaHei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font" Target="fonts/Font_1_Montserrat_Regular.fntdata"/><Relationship Id="rId12" Type="http://schemas.openxmlformats.org/officeDocument/2006/relationships/font" Target="fonts/Font_2_Montserrat_Bold.fntdata"/><Relationship Id="rId13" Type="http://schemas.openxmlformats.org/officeDocument/2006/relationships/font" Target="fonts/Font_3_Montserrat_Italic.fntdata"/><Relationship Id="rId14" Type="http://schemas.openxmlformats.org/officeDocument/2006/relationships/font" Target="fonts/Font_4_Montserrat_BoldItalic.fntdata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79A44A7-1811-4071-B0C9-249B5A5FE3A4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47359DA-967C-438A-B345-3772C14A1B75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B30D1EA-884F-4BE4-84B1-9D081BF8C972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D9D055F-7A71-4E89-9BF7-436B19730C0D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2258074-742A-4431-AB86-5CA4B64DDF75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buNone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78F1468-0135-4D97-B4FA-D6F28EFD5700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607B2CD-C6E6-4B5E-B4F7-C349ABD87F4E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DBD46C3-04D8-46CD-8890-EE3C5DA1F61B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F84FE10-AE08-4EDB-9E0A-8ED82538D9AF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DB9BE60-8CAF-44AD-A3BE-34123960F955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E169F91-5465-4554-9AC4-3C2126750C02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6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d2a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84;p13"/>
          <p:cNvPicPr/>
          <p:nvPr/>
        </p:nvPicPr>
        <p:blipFill>
          <a:blip r:embed="rId1"/>
          <a:stretch/>
        </p:blipFill>
        <p:spPr>
          <a:xfrm>
            <a:off x="0" y="0"/>
            <a:ext cx="12191760" cy="6864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89;p14" descr="image.png"/>
          <p:cNvPicPr/>
          <p:nvPr/>
        </p:nvPicPr>
        <p:blipFill>
          <a:blip r:embed="rId1"/>
          <a:stretch/>
        </p:blipFill>
        <p:spPr>
          <a:xfrm>
            <a:off x="9334440" y="-952560"/>
            <a:ext cx="3809520" cy="380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" name="Google Shape;90;p14" descr="image.png"/>
          <p:cNvPicPr/>
          <p:nvPr/>
        </p:nvPicPr>
        <p:blipFill>
          <a:blip r:embed="rId2"/>
          <a:stretch/>
        </p:blipFill>
        <p:spPr>
          <a:xfrm>
            <a:off x="6286680" y="1986120"/>
            <a:ext cx="5333760" cy="380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Google Shape;91;p14"/>
          <p:cNvSpPr/>
          <p:nvPr/>
        </p:nvSpPr>
        <p:spPr>
          <a:xfrm>
            <a:off x="571680" y="380880"/>
            <a:ext cx="1160100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2700" b="1" u="none" strike="noStrike">
                <a:solidFill>
                  <a:srgbClr val="1d2a57"/>
                </a:solidFill>
                <a:effectLst/>
                <a:uFillTx/>
                <a:latin typeface="Montserrat"/>
                <a:ea typeface="Montserrat"/>
              </a:rPr>
              <a:t>Актуальность: Квантовая угроза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92;p14"/>
          <p:cNvSpPr/>
          <p:nvPr/>
        </p:nvSpPr>
        <p:spPr>
          <a:xfrm>
            <a:off x="0" y="990720"/>
            <a:ext cx="12191760" cy="28080"/>
          </a:xfrm>
          <a:prstGeom prst="rect">
            <a:avLst/>
          </a:prstGeom>
          <a:solidFill>
            <a:srgbClr val="3a5bb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4040" bIns="140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" name="Google Shape;93;p14" descr="image.png"/>
          <p:cNvPicPr/>
          <p:nvPr/>
        </p:nvPicPr>
        <p:blipFill>
          <a:blip r:embed="rId3"/>
          <a:stretch/>
        </p:blipFill>
        <p:spPr>
          <a:xfrm>
            <a:off x="10906200" y="6286680"/>
            <a:ext cx="904680" cy="380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Google Shape;94;p14" descr="image.png"/>
          <p:cNvPicPr/>
          <p:nvPr/>
        </p:nvPicPr>
        <p:blipFill>
          <a:blip r:embed="rId4"/>
          <a:stretch/>
        </p:blipFill>
        <p:spPr>
          <a:xfrm>
            <a:off x="6286680" y="1986120"/>
            <a:ext cx="192384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Google Shape;95;p14"/>
          <p:cNvSpPr/>
          <p:nvPr/>
        </p:nvSpPr>
        <p:spPr>
          <a:xfrm>
            <a:off x="905040" y="2766960"/>
            <a:ext cx="500040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475569"/>
                </a:solidFill>
                <a:effectLst/>
                <a:uFillTx/>
                <a:latin typeface="DM Sans"/>
                <a:ea typeface="DM Sans"/>
              </a:rPr>
              <a:t>Алгоритм Шора:</a:t>
            </a:r>
            <a:r>
              <a:rPr lang="en-US" sz="1500" b="0" u="none" strike="noStrike">
                <a:solidFill>
                  <a:srgbClr val="475569"/>
                </a:solidFill>
                <a:effectLst/>
                <a:uFillTx/>
                <a:latin typeface="DM Sans"/>
                <a:ea typeface="DM Sans"/>
              </a:rPr>
              <a:t> Позволяет взламывать асимметричные стандарты (RSA, ECC) за секунды.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Google Shape;96;p14"/>
          <p:cNvSpPr/>
          <p:nvPr/>
        </p:nvSpPr>
        <p:spPr>
          <a:xfrm>
            <a:off x="905040" y="3567240"/>
            <a:ext cx="500040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475569"/>
                </a:solidFill>
                <a:effectLst/>
                <a:uFillTx/>
                <a:latin typeface="DM Sans"/>
                <a:ea typeface="DM Sans"/>
              </a:rPr>
              <a:t>Уязвимость инфраструктуры:</a:t>
            </a:r>
            <a:r>
              <a:rPr lang="en-US" sz="1500" b="0" u="none" strike="noStrike">
                <a:solidFill>
                  <a:srgbClr val="475569"/>
                </a:solidFill>
                <a:effectLst/>
                <a:uFillTx/>
                <a:latin typeface="DM Sans"/>
                <a:ea typeface="DM Sans"/>
              </a:rPr>
              <a:t> Банковские транзакции, гостайна и блокчейн под угрозой.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Google Shape;97;p14"/>
          <p:cNvSpPr/>
          <p:nvPr/>
        </p:nvSpPr>
        <p:spPr>
          <a:xfrm>
            <a:off x="905040" y="4367160"/>
            <a:ext cx="500040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475569"/>
                </a:solidFill>
                <a:effectLst/>
                <a:uFillTx/>
                <a:latin typeface="DM Sans"/>
                <a:ea typeface="DM Sans"/>
              </a:rPr>
              <a:t>Стратегия HNDL:</a:t>
            </a:r>
            <a:r>
              <a:rPr lang="en-US" sz="1500" b="0" u="none" strike="noStrike">
                <a:solidFill>
                  <a:srgbClr val="475569"/>
                </a:solidFill>
                <a:effectLst/>
                <a:uFillTx/>
                <a:latin typeface="DM Sans"/>
                <a:ea typeface="DM Sans"/>
              </a:rPr>
              <a:t> Перехват данных сегодня для расшифровки в будущем ("Store Now, Decrypt Later").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Google Shape;98;p14" descr="image.png"/>
          <p:cNvPicPr/>
          <p:nvPr/>
        </p:nvPicPr>
        <p:blipFill>
          <a:blip r:embed="rId5"/>
          <a:stretch/>
        </p:blipFill>
        <p:spPr>
          <a:xfrm>
            <a:off x="571680" y="2766960"/>
            <a:ext cx="19008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Google Shape;99;p14" descr="image.png"/>
          <p:cNvPicPr/>
          <p:nvPr/>
        </p:nvPicPr>
        <p:blipFill>
          <a:blip r:embed="rId6"/>
          <a:stretch/>
        </p:blipFill>
        <p:spPr>
          <a:xfrm>
            <a:off x="571680" y="3567240"/>
            <a:ext cx="19008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Google Shape;100;p14" descr="image.png"/>
          <p:cNvPicPr/>
          <p:nvPr/>
        </p:nvPicPr>
        <p:blipFill>
          <a:blip r:embed="rId7"/>
          <a:stretch/>
        </p:blipFill>
        <p:spPr>
          <a:xfrm>
            <a:off x="571680" y="4367160"/>
            <a:ext cx="19008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Google Shape;101;p14"/>
          <p:cNvPicPr/>
          <p:nvPr/>
        </p:nvPicPr>
        <p:blipFill>
          <a:blip r:embed="rId8"/>
          <a:stretch/>
        </p:blipFill>
        <p:spPr>
          <a:xfrm>
            <a:off x="5760" y="0"/>
            <a:ext cx="1218024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Google Shape;102;p14"/>
          <p:cNvPicPr/>
          <p:nvPr/>
        </p:nvPicPr>
        <p:blipFill>
          <a:blip r:embed="rId9"/>
          <a:stretch/>
        </p:blipFill>
        <p:spPr>
          <a:xfrm>
            <a:off x="6048360" y="2071440"/>
            <a:ext cx="5998320" cy="4091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107;p15"/>
          <p:cNvPicPr/>
          <p:nvPr/>
        </p:nvPicPr>
        <p:blipFill>
          <a:blip r:embed="rId1"/>
          <a:stretch/>
        </p:blipFill>
        <p:spPr>
          <a:xfrm>
            <a:off x="0" y="0"/>
            <a:ext cx="12191760" cy="6894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112;p16"/>
          <p:cNvPicPr/>
          <p:nvPr/>
        </p:nvPicPr>
        <p:blipFill>
          <a:blip r:embed="rId1"/>
          <a:stretch/>
        </p:blipFill>
        <p:spPr>
          <a:xfrm>
            <a:off x="0" y="0"/>
            <a:ext cx="12191760" cy="687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"/>
          <p:cNvPicPr/>
          <p:nvPr/>
        </p:nvPicPr>
        <p:blipFill>
          <a:blip r:embed="rId2"/>
          <a:stretch/>
        </p:blipFill>
        <p:spPr>
          <a:xfrm>
            <a:off x="457200" y="1600200"/>
            <a:ext cx="11430000" cy="4800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"/>
          <p:cNvPicPr/>
          <p:nvPr/>
        </p:nvPicPr>
        <p:blipFill>
          <a:blip r:embed="rId3"/>
          <a:stretch/>
        </p:blipFill>
        <p:spPr>
          <a:xfrm>
            <a:off x="457200" y="1376640"/>
            <a:ext cx="4572000" cy="20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"/>
          <p:cNvPicPr/>
          <p:nvPr/>
        </p:nvPicPr>
        <p:blipFill>
          <a:blip r:embed="rId4"/>
          <a:stretch/>
        </p:blipFill>
        <p:spPr>
          <a:xfrm>
            <a:off x="6858000" y="1443600"/>
            <a:ext cx="4800600" cy="3585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"/>
          <p:cNvPicPr/>
          <p:nvPr/>
        </p:nvPicPr>
        <p:blipFill>
          <a:blip r:embed="rId5"/>
          <a:stretch/>
        </p:blipFill>
        <p:spPr>
          <a:xfrm>
            <a:off x="685800" y="3886200"/>
            <a:ext cx="2232360" cy="1352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"/>
          <p:cNvPicPr/>
          <p:nvPr/>
        </p:nvPicPr>
        <p:blipFill>
          <a:blip r:embed="rId6"/>
          <a:stretch/>
        </p:blipFill>
        <p:spPr>
          <a:xfrm>
            <a:off x="2781360" y="3886200"/>
            <a:ext cx="2705040" cy="1475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117;p17" descr="image.png"/>
          <p:cNvPicPr/>
          <p:nvPr/>
        </p:nvPicPr>
        <p:blipFill>
          <a:blip r:embed="rId1"/>
          <a:stretch/>
        </p:blipFill>
        <p:spPr>
          <a:xfrm>
            <a:off x="10906200" y="6286680"/>
            <a:ext cx="904680" cy="380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Google Shape;118;p17"/>
          <p:cNvPicPr/>
          <p:nvPr/>
        </p:nvPicPr>
        <p:blipFill>
          <a:blip r:embed="rId2"/>
          <a:stretch/>
        </p:blipFill>
        <p:spPr>
          <a:xfrm>
            <a:off x="0" y="-13680"/>
            <a:ext cx="12191760" cy="6871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123;p18"/>
          <p:cNvPicPr/>
          <p:nvPr/>
        </p:nvPicPr>
        <p:blipFill>
          <a:blip r:embed="rId1"/>
          <a:stretch/>
        </p:blipFill>
        <p:spPr>
          <a:xfrm>
            <a:off x="5040" y="0"/>
            <a:ext cx="1218168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128;p19"/>
          <p:cNvPicPr/>
          <p:nvPr/>
        </p:nvPicPr>
        <p:blipFill>
          <a:blip r:embed="rId1"/>
          <a:stretch/>
        </p:blipFill>
        <p:spPr>
          <a:xfrm>
            <a:off x="0" y="0"/>
            <a:ext cx="12191760" cy="6870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133;p20" descr="image.png"/>
          <p:cNvPicPr/>
          <p:nvPr/>
        </p:nvPicPr>
        <p:blipFill>
          <a:blip r:embed="rId1"/>
          <a:stretch/>
        </p:blipFill>
        <p:spPr>
          <a:xfrm>
            <a:off x="10906200" y="6286680"/>
            <a:ext cx="904680" cy="38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Google Shape;134;p20"/>
          <p:cNvSpPr/>
          <p:nvPr/>
        </p:nvSpPr>
        <p:spPr>
          <a:xfrm>
            <a:off x="4185720" y="740880"/>
            <a:ext cx="381996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Заключение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Google Shape;135;p20"/>
          <p:cNvPicPr/>
          <p:nvPr/>
        </p:nvPicPr>
        <p:blipFill>
          <a:blip r:embed="rId2"/>
          <a:stretch/>
        </p:blipFill>
        <p:spPr>
          <a:xfrm>
            <a:off x="-12600" y="0"/>
            <a:ext cx="12191760" cy="6866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Application>LibreOffice/25.8.5.2$Windows_X86_64 LibreOffice_project/9c8b85f387cc00a89945a79c9e6239f32e450ac2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2026-05-06T17:27:40Z</dcterms:modified>
  <cp:revision>1</cp:revision>
  <dc:subject/>
  <dc:title/>
</cp:coreProperties>
</file>